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8" d="100"/>
          <a:sy n="58" d="100"/>
        </p:scale>
        <p:origin x="98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69406-7787-5B67-5545-2D83FA7825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FB6A2E-9CE8-B281-CB02-685AA3465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FA2F35-0589-2215-F71E-7636414393CF}"/>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B8BFE5CF-26D1-A1D7-9CD1-BC0566EDB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0C20F4-2324-E9AA-3A32-4082EA38FEE3}"/>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29842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BB6B-FC20-1AD0-34AF-B5B7855A64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EBC741-13E3-459F-DEC5-2A8B639DC8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99083-FA4A-00E2-E918-7E641A17F3FE}"/>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DEC88543-EE82-078F-6DF4-9F5A06BD72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3AC73-04BC-3D11-B762-693B2616DE0C}"/>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1635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84EAC-4C0B-890E-D047-9B35639087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C018F9-AC04-D920-395C-6A01C0C0E1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67356C-7706-A2F7-AB9F-ABF2181AD434}"/>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B8893442-48CD-A23C-DBEF-44D0DC018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BBAAE-3C7A-7C0D-00EC-71B06FB3D487}"/>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039208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17D1-BA4A-1274-FC0A-82154F1BC1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F4DD8A-426A-C12F-36A2-4FCFD8E7AF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031752-33A4-A535-803E-F3DDE1DC7E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23D349-F27F-0DB5-00BE-2A157B5D2A31}"/>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6" name="Footer Placeholder 5">
            <a:extLst>
              <a:ext uri="{FF2B5EF4-FFF2-40B4-BE49-F238E27FC236}">
                <a16:creationId xmlns:a16="http://schemas.microsoft.com/office/drawing/2014/main" id="{615FABE4-8A1D-FA43-2DAB-83273EFBDC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8F29-9DD3-F750-BE20-30EE6106044C}"/>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94487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734F3-549F-9119-CE44-DBEC77ED36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8FEA4E-BC3F-2A5A-FEA6-3AD0D23D53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C0F2E-7317-7E35-87AB-436FF293D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4665B0-576B-5C82-3514-DDEEA7AB8E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2499C-7EA5-B7BF-04C3-36DC77B270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2F0D34-705F-0BF5-BBD7-456596461FE1}"/>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8" name="Footer Placeholder 7">
            <a:extLst>
              <a:ext uri="{FF2B5EF4-FFF2-40B4-BE49-F238E27FC236}">
                <a16:creationId xmlns:a16="http://schemas.microsoft.com/office/drawing/2014/main" id="{8BE87BD6-AF76-890E-A349-C533956B70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764842-7419-9ED4-4CAE-A5ECB1D569AA}"/>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267250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235F-D2C0-FC7A-7A51-CC9B68AE98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45C521-2193-D59E-4072-CCB1706EB0B6}"/>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4" name="Footer Placeholder 3">
            <a:extLst>
              <a:ext uri="{FF2B5EF4-FFF2-40B4-BE49-F238E27FC236}">
                <a16:creationId xmlns:a16="http://schemas.microsoft.com/office/drawing/2014/main" id="{14CA6BF2-90AF-C869-E738-854A7397D1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203116-F642-772F-0190-2D70157A0A38}"/>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01344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E2532F-95DA-2C38-310E-37B7BD32F401}"/>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3" name="Footer Placeholder 2">
            <a:extLst>
              <a:ext uri="{FF2B5EF4-FFF2-40B4-BE49-F238E27FC236}">
                <a16:creationId xmlns:a16="http://schemas.microsoft.com/office/drawing/2014/main" id="{AEF14120-F0C6-9F34-F7DC-217F9782E1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9B3262-4CBA-B13B-030E-2FCA8BD50AFD}"/>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1649728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BE2A3-A18D-45BE-4AB9-EE9AB0FFC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DDD72F-2425-887E-65DE-A0C07FAA38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65E5E5-81E8-8A84-309C-F8A996339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8B984-A8FC-3278-FC20-D141ADF529D7}"/>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6" name="Footer Placeholder 5">
            <a:extLst>
              <a:ext uri="{FF2B5EF4-FFF2-40B4-BE49-F238E27FC236}">
                <a16:creationId xmlns:a16="http://schemas.microsoft.com/office/drawing/2014/main" id="{D9CCCAF2-EE99-7F5C-D282-B3E6BD4FA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6D1E64-C58D-8C1F-B2CF-FEC58B5DE0B0}"/>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3904434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1BB81-E7C9-81B3-8997-B0205A2073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C2D263-57FE-E2ED-FF84-2B494FB578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863BB7-3828-CCA1-8E5C-FD70CF6C0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B4AA43-7546-F7ED-4C8E-E3E1A824BA61}"/>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6" name="Footer Placeholder 5">
            <a:extLst>
              <a:ext uri="{FF2B5EF4-FFF2-40B4-BE49-F238E27FC236}">
                <a16:creationId xmlns:a16="http://schemas.microsoft.com/office/drawing/2014/main" id="{DF87CF1C-3695-C0A8-4DD1-996C45360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5B75C3-001F-26E5-6ABC-A56B0BD61568}"/>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4131847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6807E-C482-DA89-0203-A4B3B89847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05F78C-2D8E-EDFE-1B01-C100F403D8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7C834-B2CB-FB0F-0152-C8E94349A758}"/>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5588E51D-6994-895A-EA1E-57BC56AA0E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9BF17-D356-974F-EB93-313F2CB4FA94}"/>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28031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B87F97-AEDD-22DF-FF6B-02D0F4DE90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C47B02-2056-BF86-67AB-A6A19B8CB7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2A0C77-0936-ED98-8D54-5EEC77088686}"/>
              </a:ext>
            </a:extLst>
          </p:cNvPr>
          <p:cNvSpPr>
            <a:spLocks noGrp="1"/>
          </p:cNvSpPr>
          <p:nvPr>
            <p:ph type="dt" sz="half" idx="10"/>
          </p:nvPr>
        </p:nvSpPr>
        <p:spPr/>
        <p:txBody>
          <a:body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21F249EA-36F9-BED6-4460-FC3E45D2E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12C4F4-BC95-04CA-343A-069493B7716E}"/>
              </a:ext>
            </a:extLst>
          </p:cNvPr>
          <p:cNvSpPr>
            <a:spLocks noGrp="1"/>
          </p:cNvSpPr>
          <p:nvPr>
            <p:ph type="sldNum" sz="quarter" idx="12"/>
          </p:nvPr>
        </p:nvSpPr>
        <p:spPr/>
        <p:txBody>
          <a:bodyPr/>
          <a:lstStyle/>
          <a:p>
            <a:fld id="{132C1BEA-4548-4434-B687-5E43ACFA0F04}" type="slidenum">
              <a:rPr lang="en-US" smtClean="0"/>
              <a:t>‹#›</a:t>
            </a:fld>
            <a:endParaRPr lang="en-US"/>
          </a:p>
        </p:txBody>
      </p:sp>
    </p:spTree>
    <p:extLst>
      <p:ext uri="{BB962C8B-B14F-4D97-AF65-F5344CB8AC3E}">
        <p14:creationId xmlns:p14="http://schemas.microsoft.com/office/powerpoint/2010/main" val="196024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218DEE-5A5F-6175-4AA6-D08C5454A9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A0E64A-EF3F-D738-F548-BB22E53EE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BB78EE-FA36-3CAA-F6D5-62D9EDFE2E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1BE8EC-2341-49BA-BAC8-7D86059B77E9}" type="datetimeFigureOut">
              <a:rPr lang="en-US" smtClean="0"/>
              <a:t>5/25/2024</a:t>
            </a:fld>
            <a:endParaRPr lang="en-US"/>
          </a:p>
        </p:txBody>
      </p:sp>
      <p:sp>
        <p:nvSpPr>
          <p:cNvPr id="5" name="Footer Placeholder 4">
            <a:extLst>
              <a:ext uri="{FF2B5EF4-FFF2-40B4-BE49-F238E27FC236}">
                <a16:creationId xmlns:a16="http://schemas.microsoft.com/office/drawing/2014/main" id="{036F55B8-FBFE-724D-8240-29C2DFA068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F3DA467-94DA-0FFC-2916-87AE47DA59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C1BEA-4548-4434-B687-5E43ACFA0F04}" type="slidenum">
              <a:rPr lang="en-US" smtClean="0"/>
              <a:t>‹#›</a:t>
            </a:fld>
            <a:endParaRPr lang="en-US"/>
          </a:p>
        </p:txBody>
      </p:sp>
    </p:spTree>
    <p:extLst>
      <p:ext uri="{BB962C8B-B14F-4D97-AF65-F5344CB8AC3E}">
        <p14:creationId xmlns:p14="http://schemas.microsoft.com/office/powerpoint/2010/main" val="2085856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62C59B8-DBA5-01C0-F620-531E16FAFBB9}"/>
              </a:ext>
            </a:extLst>
          </p:cNvPr>
          <p:cNvSpPr txBox="1"/>
          <p:nvPr/>
        </p:nvSpPr>
        <p:spPr>
          <a:xfrm>
            <a:off x="242371" y="165253"/>
            <a:ext cx="11611778" cy="5909310"/>
          </a:xfrm>
          <a:prstGeom prst="rect">
            <a:avLst/>
          </a:prstGeom>
          <a:noFill/>
        </p:spPr>
        <p:txBody>
          <a:bodyPr wrap="square">
            <a:spAutoFit/>
          </a:bodyPr>
          <a:lstStyle/>
          <a:p>
            <a:r>
              <a:rPr lang="en-GB" dirty="0"/>
              <a:t>Understand: Concepts, principles, and methods in programming for web and internet environments:</a:t>
            </a:r>
          </a:p>
          <a:p>
            <a:pPr>
              <a:buFont typeface="+mj-lt"/>
              <a:buAutoNum type="arabicPeriod"/>
            </a:pPr>
            <a:r>
              <a:rPr lang="en-GB" b="1" dirty="0"/>
              <a:t>Which of the following languages is primarily used for client-side scripting in web development?</a:t>
            </a:r>
            <a:endParaRPr lang="en-GB" dirty="0"/>
          </a:p>
          <a:p>
            <a:pPr lvl="1"/>
            <a:r>
              <a:rPr lang="en-GB" dirty="0"/>
              <a:t>a) Python</a:t>
            </a:r>
          </a:p>
          <a:p>
            <a:pPr lvl="1"/>
            <a:r>
              <a:rPr lang="en-GB" dirty="0"/>
              <a:t>b) Java</a:t>
            </a:r>
          </a:p>
          <a:p>
            <a:pPr lvl="1"/>
            <a:r>
              <a:rPr lang="en-GB" dirty="0"/>
              <a:t>c) JavaScript </a:t>
            </a:r>
            <a:r>
              <a:rPr lang="en-GB" b="1" dirty="0"/>
              <a:t>(Correct Answer)</a:t>
            </a:r>
            <a:endParaRPr lang="en-GB" dirty="0"/>
          </a:p>
          <a:p>
            <a:pPr lvl="1"/>
            <a:r>
              <a:rPr lang="en-GB" dirty="0"/>
              <a:t>d) C++</a:t>
            </a:r>
          </a:p>
          <a:p>
            <a:pPr>
              <a:buFont typeface="+mj-lt"/>
              <a:buAutoNum type="arabicPeriod"/>
            </a:pPr>
            <a:r>
              <a:rPr lang="en-GB" b="1" dirty="0"/>
              <a:t>What is the primary purpose of </a:t>
            </a:r>
            <a:r>
              <a:rPr lang="en-GB" b="1" dirty="0" err="1"/>
              <a:t>HyperText</a:t>
            </a:r>
            <a:r>
              <a:rPr lang="en-GB" b="1" dirty="0"/>
              <a:t> Markup Language (HTML) in web development?</a:t>
            </a:r>
            <a:endParaRPr lang="en-GB" dirty="0"/>
          </a:p>
          <a:p>
            <a:pPr lvl="1"/>
            <a:r>
              <a:rPr lang="en-GB" dirty="0"/>
              <a:t>a) To add interactivity to web pages</a:t>
            </a:r>
          </a:p>
          <a:p>
            <a:pPr lvl="1"/>
            <a:r>
              <a:rPr lang="en-GB" dirty="0"/>
              <a:t>b) To define the structure and content of web pages </a:t>
            </a:r>
            <a:r>
              <a:rPr lang="en-GB" b="1" dirty="0"/>
              <a:t>(Correct Answer)</a:t>
            </a:r>
            <a:endParaRPr lang="en-GB" dirty="0"/>
          </a:p>
          <a:p>
            <a:pPr lvl="1"/>
            <a:r>
              <a:rPr lang="en-GB" dirty="0"/>
              <a:t>c) To handle communication between server and client</a:t>
            </a:r>
          </a:p>
          <a:p>
            <a:pPr lvl="1"/>
            <a:r>
              <a:rPr lang="en-GB" dirty="0"/>
              <a:t>d) To create animations and graphics</a:t>
            </a:r>
          </a:p>
          <a:p>
            <a:pPr>
              <a:buFont typeface="+mj-lt"/>
              <a:buAutoNum type="arabicPeriod"/>
            </a:pPr>
            <a:r>
              <a:rPr lang="en-GB" b="1" dirty="0"/>
              <a:t>When encountering a JavaScript error message, the first step in debugging should be:</a:t>
            </a:r>
            <a:endParaRPr lang="en-GB" dirty="0"/>
          </a:p>
          <a:p>
            <a:pPr lvl="1"/>
            <a:r>
              <a:rPr lang="en-GB" dirty="0"/>
              <a:t>a) Ignoring the error and hoping it goes away</a:t>
            </a:r>
          </a:p>
          <a:p>
            <a:pPr lvl="1"/>
            <a:r>
              <a:rPr lang="en-GB" dirty="0"/>
              <a:t>b) Reading the error message carefully and identifying the line causing the issue </a:t>
            </a:r>
            <a:r>
              <a:rPr lang="en-GB" b="1" dirty="0"/>
              <a:t>(Correct Answer)</a:t>
            </a:r>
            <a:endParaRPr lang="en-GB" dirty="0"/>
          </a:p>
          <a:p>
            <a:pPr lvl="1"/>
            <a:r>
              <a:rPr lang="en-GB" dirty="0"/>
              <a:t>c) Re-writing the entire code from scratch</a:t>
            </a:r>
          </a:p>
          <a:p>
            <a:pPr lvl="1"/>
            <a:r>
              <a:rPr lang="en-GB" dirty="0"/>
              <a:t>d) Searching online for generic solutions without understanding the context</a:t>
            </a:r>
          </a:p>
          <a:p>
            <a:pPr>
              <a:buFont typeface="+mj-lt"/>
              <a:buAutoNum type="arabicPeriod"/>
            </a:pPr>
            <a:r>
              <a:rPr lang="en-GB" b="1" dirty="0"/>
              <a:t>Security is a major concern when handling user data on an e-commerce website. Which of the following is NOT a recommended practice?</a:t>
            </a:r>
            <a:endParaRPr lang="en-GB" dirty="0"/>
          </a:p>
          <a:p>
            <a:pPr lvl="1"/>
            <a:r>
              <a:rPr lang="en-GB" dirty="0"/>
              <a:t>b) Validating user input on the client-side to prevent malicious code injection </a:t>
            </a:r>
            <a:r>
              <a:rPr lang="en-GB" b="1" dirty="0"/>
              <a:t>(Correct Answer)</a:t>
            </a:r>
            <a:endParaRPr lang="en-GB" dirty="0"/>
          </a:p>
          <a:p>
            <a:pPr lvl="1"/>
            <a:r>
              <a:rPr lang="en-GB" dirty="0"/>
              <a:t>c) Encrypting sensitive data like credit card and session information on the server-side</a:t>
            </a:r>
          </a:p>
          <a:p>
            <a:pPr lvl="1"/>
            <a:r>
              <a:rPr lang="en-GB" dirty="0"/>
              <a:t>d) Using secure protocols like HTTPS for communication</a:t>
            </a:r>
          </a:p>
        </p:txBody>
      </p:sp>
    </p:spTree>
    <p:extLst>
      <p:ext uri="{BB962C8B-B14F-4D97-AF65-F5344CB8AC3E}">
        <p14:creationId xmlns:p14="http://schemas.microsoft.com/office/powerpoint/2010/main" val="116838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7307A4-F60F-2D9A-A250-9FF59C27243A}"/>
              </a:ext>
            </a:extLst>
          </p:cNvPr>
          <p:cNvSpPr>
            <a:spLocks noChangeArrowheads="1"/>
          </p:cNvSpPr>
          <p:nvPr/>
        </p:nvSpPr>
        <p:spPr bwMode="auto">
          <a:xfrm>
            <a:off x="205740" y="437380"/>
            <a:ext cx="12555745"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altLang="en-US" b="1" dirty="0">
                <a:latin typeface="Arial" panose="020B0604020202020204" pitchFamily="34" charset="0"/>
              </a:rPr>
              <a:t>Apply: Server Side scripting Languages and Implement client-side interactivity</a:t>
            </a:r>
            <a:r>
              <a:rPr lang="en-US" altLang="en-US" b="1"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6. You're building a web application that allows users to register. On the server-side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(using a language like PHP), how would you ensure a username is unique before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storing it in the database?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Use JavaScript to check for uniqueness before submitting the form</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Write server-side code to query the database for existing usernames before storing the new one.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rely on the database to handle duplicate entries automatically.</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There's no way to guarantee uniqueness in a web application.</a:t>
            </a: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7.</a:t>
            </a:r>
            <a:r>
              <a:rPr kumimoji="0" lang="en-US" altLang="en-US" sz="1800" b="1" i="0" u="none" strike="noStrike" cap="none" normalizeH="0" baseline="0" dirty="0">
                <a:ln>
                  <a:noFill/>
                </a:ln>
                <a:solidFill>
                  <a:schemeClr val="tx1"/>
                </a:solidFill>
                <a:effectLst/>
                <a:latin typeface="Arial" panose="020B0604020202020204" pitchFamily="34" charset="0"/>
              </a:rPr>
              <a:t> A user submits a form on your website. Which combination of technologies best represents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how the form data would be processed for server-side validation and storage?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Client-side validation with JavaScript and server-side processing using HTML forms.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Only client-side validation with JavaScript for a more responsive experience.</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Only server-side validation to avoid user manipulation of data.</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Client-side validation with JavaScript, but storing data directly in the browser for security reasons.</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8</a:t>
            </a:r>
            <a:r>
              <a:rPr kumimoji="0" lang="en-US" altLang="en-US" sz="1800" b="1" i="0" u="none" strike="noStrike" cap="none" normalizeH="0" baseline="0" dirty="0">
                <a:ln>
                  <a:noFill/>
                </a:ln>
                <a:solidFill>
                  <a:schemeClr val="tx1"/>
                </a:solidFill>
                <a:effectLst/>
                <a:latin typeface="Arial" panose="020B0604020202020204" pitchFamily="34" charset="0"/>
              </a:rPr>
              <a:t>. A user clicks a button on your webpage. How can you use client-side scripting (JavaScript) to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enhance the user experience without requiring a full page reload?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The button should submit a form to the server for processing.</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Use JavaScript to handle the button click event and perform actions like displaying animations </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or updating content dynamically on the page.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Re-render the entire page using JavaScript to simulate interactivity.</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Client-side scripting cannot handle button clicks without server interaction.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815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4834F6-3950-E7BE-9CDE-19ADB39CF3DD}"/>
              </a:ext>
            </a:extLst>
          </p:cNvPr>
          <p:cNvSpPr>
            <a:spLocks noChangeArrowheads="1"/>
          </p:cNvSpPr>
          <p:nvPr/>
        </p:nvSpPr>
        <p:spPr bwMode="auto">
          <a:xfrm>
            <a:off x="0" y="116355"/>
            <a:ext cx="1172718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1800" b="1" i="0" u="none" strike="noStrike" cap="none" normalizeH="0" baseline="0" dirty="0">
                <a:ln>
                  <a:noFill/>
                </a:ln>
                <a:solidFill>
                  <a:schemeClr val="tx1"/>
                </a:solidFill>
                <a:effectLst/>
                <a:latin typeface="Arial" panose="020B0604020202020204" pitchFamily="34" charset="0"/>
              </a:rPr>
              <a:t>Analyse &amp; </a:t>
            </a:r>
            <a:r>
              <a:rPr kumimoji="0" lang="en-GB" altLang="en-US" sz="1800" b="1" i="0" u="none" strike="noStrike" cap="none" normalizeH="0" baseline="0" dirty="0" err="1">
                <a:ln>
                  <a:noFill/>
                </a:ln>
                <a:solidFill>
                  <a:schemeClr val="tx1"/>
                </a:solidFill>
                <a:effectLst/>
                <a:latin typeface="Arial" panose="020B0604020202020204" pitchFamily="34" charset="0"/>
              </a:rPr>
              <a:t>Ceate</a:t>
            </a:r>
            <a:r>
              <a:rPr kumimoji="0" lang="en-GB" altLang="en-US" sz="1800" b="1" i="0" u="none" strike="noStrike" cap="none" normalizeH="0" baseline="0" dirty="0">
                <a:ln>
                  <a:noFill/>
                </a:ln>
                <a:solidFill>
                  <a:schemeClr val="tx1"/>
                </a:solidFill>
                <a:effectLst/>
                <a:latin typeface="Arial" panose="020B0604020202020204" pitchFamily="34" charset="0"/>
              </a:rPr>
              <a:t>: Specify, build and manage form and content of information-rich web sites</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9. You're designing a website for a local museum with a vast collection of artifacts. Users should be able to search for specific artifacts based on criteria like category, date, or artist. Which approach would be most effective in managing this content for efficient searching and display?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Create individual web pages for each artifact, making searching cumbersome.</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Store all artifact information in a single, long webpage, leading to poor user experience.</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Develop a database to store artifact information and use server-side scripting to dynamically generate search results and detailed pages for each artifact.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Rely solely on client-side search functionality within the browser for efficiency.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10. A client wants a website showcasing their photography portfolio. They have hundreds of high-resolution images. How would you optimize the website's content management and user experience for these images?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Display all images in full resolution on a single page, potentially causing slow loading times.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Use a single, large image file containing all photos.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Implement a database to manage image information and utilize thumbnails for browsing with options to view full-size versions on demand.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Upload all images directly into HTML code.</a:t>
            </a:r>
          </a:p>
          <a:p>
            <a:pPr eaLnBrk="0" fontAlgn="base" hangingPunct="0">
              <a:spcBef>
                <a:spcPct val="0"/>
              </a:spcBef>
              <a:spcAft>
                <a:spcPct val="0"/>
              </a:spcAft>
            </a:pPr>
            <a:r>
              <a:rPr lang="en-US" altLang="en-US" dirty="0">
                <a:latin typeface="Arial" panose="020B0604020202020204" pitchFamily="34" charset="0"/>
              </a:rPr>
              <a:t>11. </a:t>
            </a:r>
            <a:r>
              <a:rPr kumimoji="0" lang="en-US" altLang="en-US" b="1" i="0" u="none" strike="noStrike" cap="none" normalizeH="0" baseline="0" dirty="0">
                <a:ln>
                  <a:noFill/>
                </a:ln>
                <a:solidFill>
                  <a:schemeClr val="tx1"/>
                </a:solidFill>
                <a:effectLst/>
                <a:latin typeface="Arial" panose="020B0604020202020204" pitchFamily="34" charset="0"/>
              </a:rPr>
              <a:t>You're tasked with creating a website for a news organization with daily content updates. How would you ensure efficient content management and user experience for readers?</a:t>
            </a:r>
            <a:endParaRPr kumimoji="0" lang="en-US" altLang="en-US"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 Create static HTML pages for each news article, requiring manual updates for new content.</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 Develop a content management system (CMS) allowing for easy content creation, editing, and organization for a dynamic website. (Correct Answer)</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 Rely on users to submit news articles directly through HTML forms, leading to potential quality and security issues.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 Use a single, long webpage with all news articles listed chronologically, making navigation challenging for older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213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D4540E-DA8E-5773-B3C7-8CAB9C887EBA}"/>
              </a:ext>
            </a:extLst>
          </p:cNvPr>
          <p:cNvSpPr>
            <a:spLocks noChangeArrowheads="1"/>
          </p:cNvSpPr>
          <p:nvPr/>
        </p:nvSpPr>
        <p:spPr bwMode="auto">
          <a:xfrm>
            <a:off x="99152" y="1164133"/>
            <a:ext cx="1141517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13. When designing a client-server system with multiple clients accessing the server concurrently,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what concurrency control mechanism would be most effective in preventing data inconsistencies?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800100" lvl="1" indent="-342900" eaLnBrk="0" fontAlgn="base" hangingPunct="0">
              <a:spcBef>
                <a:spcPct val="0"/>
              </a:spcBef>
              <a:spcAft>
                <a:spcPct val="0"/>
              </a:spcAft>
              <a:buAutoNum type="alphaLcParenR"/>
            </a:pPr>
            <a:r>
              <a:rPr kumimoji="0" lang="en-US" altLang="en-US" sz="1600" b="0" i="0" u="none" strike="noStrike" cap="none" normalizeH="0" baseline="0" dirty="0">
                <a:ln>
                  <a:noFill/>
                </a:ln>
                <a:solidFill>
                  <a:schemeClr val="tx1"/>
                </a:solidFill>
                <a:effectLst/>
                <a:latin typeface="Arial" panose="020B0604020202020204" pitchFamily="34" charset="0"/>
              </a:rPr>
              <a:t>No concurrency control</a:t>
            </a:r>
          </a:p>
          <a:p>
            <a:pPr marL="800100" lvl="1" indent="-342900" eaLnBrk="0" fontAlgn="base" hangingPunct="0">
              <a:spcBef>
                <a:spcPct val="0"/>
              </a:spcBef>
              <a:spcAft>
                <a:spcPct val="0"/>
              </a:spcAft>
              <a:buAutoNum type="alphaLcParenR"/>
            </a:pPr>
            <a:r>
              <a:rPr kumimoji="0" lang="en-US" altLang="en-US" sz="1600" b="0" i="0" u="none" strike="noStrike" cap="none" normalizeH="0" baseline="0" dirty="0">
                <a:ln>
                  <a:noFill/>
                </a:ln>
                <a:solidFill>
                  <a:schemeClr val="tx1"/>
                </a:solidFill>
                <a:effectLst/>
                <a:latin typeface="Arial" panose="020B0604020202020204" pitchFamily="34" charset="0"/>
              </a:rPr>
              <a:t>Semaphores: Signaling mechanism for controlling access to shared resources, a viable option. (Correct Answer)</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c)   Cookies: Used for client-side state management.</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d)   Hyperlinks: Used for linking web pages, </a:t>
            </a:r>
            <a:endParaRPr lang="en-US" altLang="en-US" sz="1600" dirty="0">
              <a:latin typeface="Arial" panose="020B0604020202020204" pitchFamily="34" charset="0"/>
            </a:endParaRPr>
          </a:p>
          <a:p>
            <a:pPr eaLnBrk="0" fontAlgn="base" hangingPunct="0">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14. During the evaluation phase of a client-server system, you identify performance bottlenecks.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Which approach is the MOST effective for analyzing and improving concurrency issues?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a) Increase server hardware resources without understanding the root cause of the problem.</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b) Use profiling tools to identify sections of code causing concurrency bottlenecks and optimize them. (Correct Answer)</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c) Limit the number of concurrent clients accessing the server, potentially impacting user experience.</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d) Rewrite the entire system from scratch without a clear understanding of the existing issues.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15. When designing the communication protocol for a client-server system, which element is MOST crucial for</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ensuring data integrity and security?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a) Using clear and concise language in the protocol specifications.</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b) Defining the format and structure of data messages.</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c) Implementing data encryption and authentication mechanisms to protect sensitive information. (Correct Answer)</a:t>
            </a:r>
          </a:p>
          <a:p>
            <a:pPr lvl="1"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d) Specifying error codes for various communication failures.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A0C91DBA-B669-6EA5-DB5D-A2C8BE04EEDE}"/>
              </a:ext>
            </a:extLst>
          </p:cNvPr>
          <p:cNvSpPr txBox="1"/>
          <p:nvPr/>
        </p:nvSpPr>
        <p:spPr>
          <a:xfrm>
            <a:off x="388412" y="379824"/>
            <a:ext cx="11415175" cy="646331"/>
          </a:xfrm>
          <a:prstGeom prst="rect">
            <a:avLst/>
          </a:prstGeom>
          <a:noFill/>
        </p:spPr>
        <p:txBody>
          <a:bodyPr wrap="square">
            <a:spAutoFit/>
          </a:bodyPr>
          <a:lstStyle/>
          <a:p>
            <a:r>
              <a:rPr lang="en-GB" dirty="0"/>
              <a:t>Analyse and Evaluate: Design, implement and evaluate client-server systems following specific protocol specifications, taking into account concurrency issue</a:t>
            </a:r>
            <a:endParaRPr lang="en-US" dirty="0"/>
          </a:p>
        </p:txBody>
      </p:sp>
    </p:spTree>
    <p:extLst>
      <p:ext uri="{BB962C8B-B14F-4D97-AF65-F5344CB8AC3E}">
        <p14:creationId xmlns:p14="http://schemas.microsoft.com/office/powerpoint/2010/main" val="209868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1161</Words>
  <Application>Microsoft Office PowerPoint</Application>
  <PresentationFormat>Widescreen</PresentationFormat>
  <Paragraphs>77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Mizanu Zelalem Degu</dc:creator>
  <cp:lastModifiedBy>Mizanu Zelalem Degu</cp:lastModifiedBy>
  <cp:revision>12</cp:revision>
  <dcterms:created xsi:type="dcterms:W3CDTF">2024-05-25T10:28:23Z</dcterms:created>
  <dcterms:modified xsi:type="dcterms:W3CDTF">2024-05-25T11:26:48Z</dcterms:modified>
</cp:coreProperties>
</file>